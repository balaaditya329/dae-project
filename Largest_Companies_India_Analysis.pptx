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84" r:id="rId11"/>
    <p:sldId id="271" r:id="rId12"/>
    <p:sldId id="281" r:id="rId13"/>
    <p:sldId id="283" r:id="rId14"/>
    <p:sldId id="285" r:id="rId15"/>
    <p:sldId id="268" r:id="rId16"/>
    <p:sldId id="269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97685-9CB6-45F9-A194-17869D503BB0}" v="6" dt="2026-09-22T09:10:40.5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na chand" userId="6e54419aa65d471c" providerId="LiveId" clId="{2483B58E-5644-4E75-AA46-D334125ADD6E}"/>
    <pc:docChg chg="undo custSel modSld">
      <pc:chgData name="purna chand" userId="6e54419aa65d471c" providerId="LiveId" clId="{2483B58E-5644-4E75-AA46-D334125ADD6E}" dt="2026-09-22T09:13:59.059" v="130" actId="1076"/>
      <pc:docMkLst>
        <pc:docMk/>
      </pc:docMkLst>
      <pc:sldChg chg="addSp delSp modSp mod">
        <pc:chgData name="purna chand" userId="6e54419aa65d471c" providerId="LiveId" clId="{2483B58E-5644-4E75-AA46-D334125ADD6E}" dt="2026-09-22T09:10:12.476" v="82" actId="1076"/>
        <pc:sldMkLst>
          <pc:docMk/>
          <pc:sldMk cId="314495878" sldId="271"/>
        </pc:sldMkLst>
        <pc:spChg chg="add mod">
          <ac:chgData name="purna chand" userId="6e54419aa65d471c" providerId="LiveId" clId="{2483B58E-5644-4E75-AA46-D334125ADD6E}" dt="2026-09-22T09:10:12.476" v="82" actId="1076"/>
          <ac:spMkLst>
            <pc:docMk/>
            <pc:sldMk cId="314495878" sldId="271"/>
            <ac:spMk id="4" creationId="{52502A97-D245-72B2-C4CE-36C3CF74332D}"/>
          </ac:spMkLst>
        </pc:spChg>
        <pc:spChg chg="add del mod">
          <ac:chgData name="purna chand" userId="6e54419aa65d471c" providerId="LiveId" clId="{2483B58E-5644-4E75-AA46-D334125ADD6E}" dt="2026-09-22T09:06:10.678" v="37"/>
          <ac:spMkLst>
            <pc:docMk/>
            <pc:sldMk cId="314495878" sldId="271"/>
            <ac:spMk id="10" creationId="{C3424CE3-2BBD-D949-B6E7-EE563E93A1D9}"/>
          </ac:spMkLst>
        </pc:spChg>
        <pc:spChg chg="mod">
          <ac:chgData name="purna chand" userId="6e54419aa65d471c" providerId="LiveId" clId="{2483B58E-5644-4E75-AA46-D334125ADD6E}" dt="2026-09-22T09:06:53.284" v="48" actId="1076"/>
          <ac:spMkLst>
            <pc:docMk/>
            <pc:sldMk cId="314495878" sldId="271"/>
            <ac:spMk id="12" creationId="{00000000-0000-0000-0000-000000000000}"/>
          </ac:spMkLst>
        </pc:spChg>
        <pc:spChg chg="add mod">
          <ac:chgData name="purna chand" userId="6e54419aa65d471c" providerId="LiveId" clId="{2483B58E-5644-4E75-AA46-D334125ADD6E}" dt="2026-09-22T09:08:39.566" v="64" actId="1076"/>
          <ac:spMkLst>
            <pc:docMk/>
            <pc:sldMk cId="314495878" sldId="271"/>
            <ac:spMk id="13" creationId="{0E34B842-9CD3-AA46-6CA7-F730C9D1D96E}"/>
          </ac:spMkLst>
        </pc:spChg>
        <pc:spChg chg="add mod">
          <ac:chgData name="purna chand" userId="6e54419aa65d471c" providerId="LiveId" clId="{2483B58E-5644-4E75-AA46-D334125ADD6E}" dt="2026-09-22T09:10:07.110" v="81" actId="1076"/>
          <ac:spMkLst>
            <pc:docMk/>
            <pc:sldMk cId="314495878" sldId="271"/>
            <ac:spMk id="15" creationId="{D18714A5-46F1-BD0D-4A00-BB0C1211F660}"/>
          </ac:spMkLst>
        </pc:spChg>
        <pc:spChg chg="add mod">
          <ac:chgData name="purna chand" userId="6e54419aa65d471c" providerId="LiveId" clId="{2483B58E-5644-4E75-AA46-D334125ADD6E}" dt="2026-09-22T09:08:48.654" v="66" actId="1076"/>
          <ac:spMkLst>
            <pc:docMk/>
            <pc:sldMk cId="314495878" sldId="271"/>
            <ac:spMk id="16" creationId="{D359C03E-C4CB-43D3-0C7D-3D50822A8B32}"/>
          </ac:spMkLst>
        </pc:spChg>
        <pc:spChg chg="add mod">
          <ac:chgData name="purna chand" userId="6e54419aa65d471c" providerId="LiveId" clId="{2483B58E-5644-4E75-AA46-D334125ADD6E}" dt="2026-09-22T09:09:02.344" v="69" actId="1076"/>
          <ac:spMkLst>
            <pc:docMk/>
            <pc:sldMk cId="314495878" sldId="271"/>
            <ac:spMk id="18" creationId="{E02D8121-E16D-A49A-1052-85D8AFE05F58}"/>
          </ac:spMkLst>
        </pc:spChg>
        <pc:spChg chg="mod">
          <ac:chgData name="purna chand" userId="6e54419aa65d471c" providerId="LiveId" clId="{2483B58E-5644-4E75-AA46-D334125ADD6E}" dt="2026-09-22T09:08:25.917" v="61" actId="1076"/>
          <ac:spMkLst>
            <pc:docMk/>
            <pc:sldMk cId="314495878" sldId="271"/>
            <ac:spMk id="20" creationId="{00000000-0000-0000-0000-000000000000}"/>
          </ac:spMkLst>
        </pc:spChg>
        <pc:spChg chg="add mod">
          <ac:chgData name="purna chand" userId="6e54419aa65d471c" providerId="LiveId" clId="{2483B58E-5644-4E75-AA46-D334125ADD6E}" dt="2026-09-22T09:09:59.881" v="80" actId="1076"/>
          <ac:spMkLst>
            <pc:docMk/>
            <pc:sldMk cId="314495878" sldId="271"/>
            <ac:spMk id="21" creationId="{B1C9C953-BED3-2F43-1A1F-3B7650BC3A88}"/>
          </ac:spMkLst>
        </pc:spChg>
        <pc:cxnChg chg="add del">
          <ac:chgData name="purna chand" userId="6e54419aa65d471c" providerId="LiveId" clId="{2483B58E-5644-4E75-AA46-D334125ADD6E}" dt="2026-09-22T09:05:07.531" v="24" actId="11529"/>
          <ac:cxnSpMkLst>
            <pc:docMk/>
            <pc:sldMk cId="314495878" sldId="271"/>
            <ac:cxnSpMk id="3" creationId="{F0BC3A08-AD3D-3AB9-73F3-725E1C529C83}"/>
          </ac:cxnSpMkLst>
        </pc:cxnChg>
      </pc:sldChg>
      <pc:sldChg chg="addSp delSp modSp mod">
        <pc:chgData name="purna chand" userId="6e54419aa65d471c" providerId="LiveId" clId="{2483B58E-5644-4E75-AA46-D334125ADD6E}" dt="2026-09-22T09:13:59.059" v="130" actId="1076"/>
        <pc:sldMkLst>
          <pc:docMk/>
          <pc:sldMk cId="3744217247" sldId="281"/>
        </pc:sldMkLst>
        <pc:spChg chg="add">
          <ac:chgData name="purna chand" userId="6e54419aa65d471c" providerId="LiveId" clId="{2483B58E-5644-4E75-AA46-D334125ADD6E}" dt="2026-09-22T09:10:28.519" v="84" actId="22"/>
          <ac:spMkLst>
            <pc:docMk/>
            <pc:sldMk cId="3744217247" sldId="281"/>
            <ac:spMk id="3" creationId="{58C6D514-1AF0-EDB1-7078-687065ECF56B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2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3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4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5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6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7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8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19" creationId="{00000000-0000-0000-0000-000000000000}"/>
          </ac:spMkLst>
        </pc:spChg>
        <pc:spChg chg="del">
          <ac:chgData name="purna chand" userId="6e54419aa65d471c" providerId="LiveId" clId="{2483B58E-5644-4E75-AA46-D334125ADD6E}" dt="2026-09-22T09:10:20.918" v="83" actId="478"/>
          <ac:spMkLst>
            <pc:docMk/>
            <pc:sldMk cId="3744217247" sldId="281"/>
            <ac:spMk id="20" creationId="{00000000-0000-0000-0000-000000000000}"/>
          </ac:spMkLst>
        </pc:spChg>
        <pc:spChg chg="mod">
          <ac:chgData name="purna chand" userId="6e54419aa65d471c" providerId="LiveId" clId="{2483B58E-5644-4E75-AA46-D334125ADD6E}" dt="2026-09-22T09:10:40.518" v="85"/>
          <ac:spMkLst>
            <pc:docMk/>
            <pc:sldMk cId="3744217247" sldId="281"/>
            <ac:spMk id="23" creationId="{B3782B54-B821-DE87-C2B7-79ECF9E77AF9}"/>
          </ac:spMkLst>
        </pc:spChg>
        <pc:spChg chg="add mod">
          <ac:chgData name="purna chand" userId="6e54419aa65d471c" providerId="LiveId" clId="{2483B58E-5644-4E75-AA46-D334125ADD6E}" dt="2026-09-22T09:13:59.059" v="130" actId="1076"/>
          <ac:spMkLst>
            <pc:docMk/>
            <pc:sldMk cId="3744217247" sldId="281"/>
            <ac:spMk id="25" creationId="{A5CA9835-2A27-E3B2-E349-E0FE4429CFBE}"/>
          </ac:spMkLst>
        </pc:spChg>
        <pc:spChg chg="add mod">
          <ac:chgData name="purna chand" userId="6e54419aa65d471c" providerId="LiveId" clId="{2483B58E-5644-4E75-AA46-D334125ADD6E}" dt="2026-09-22T09:11:43.863" v="99" actId="1076"/>
          <ac:spMkLst>
            <pc:docMk/>
            <pc:sldMk cId="3744217247" sldId="281"/>
            <ac:spMk id="27" creationId="{769BA950-6049-F76A-4A0C-CF5ED87D2763}"/>
          </ac:spMkLst>
        </pc:spChg>
        <pc:spChg chg="add mod">
          <ac:chgData name="purna chand" userId="6e54419aa65d471c" providerId="LiveId" clId="{2483B58E-5644-4E75-AA46-D334125ADD6E}" dt="2026-09-22T09:11:56.197" v="101" actId="1076"/>
          <ac:spMkLst>
            <pc:docMk/>
            <pc:sldMk cId="3744217247" sldId="281"/>
            <ac:spMk id="29" creationId="{3B0312D2-1C2D-0FC3-47A4-8970E0D691E7}"/>
          </ac:spMkLst>
        </pc:spChg>
        <pc:spChg chg="add mod">
          <ac:chgData name="purna chand" userId="6e54419aa65d471c" providerId="LiveId" clId="{2483B58E-5644-4E75-AA46-D334125ADD6E}" dt="2026-09-22T09:12:22.479" v="109" actId="14100"/>
          <ac:spMkLst>
            <pc:docMk/>
            <pc:sldMk cId="3744217247" sldId="281"/>
            <ac:spMk id="31" creationId="{6FA49019-54D3-0F1F-3651-5D4892AE3078}"/>
          </ac:spMkLst>
        </pc:spChg>
        <pc:spChg chg="add mod">
          <ac:chgData name="purna chand" userId="6e54419aa65d471c" providerId="LiveId" clId="{2483B58E-5644-4E75-AA46-D334125ADD6E}" dt="2026-09-22T09:12:33.020" v="111" actId="1076"/>
          <ac:spMkLst>
            <pc:docMk/>
            <pc:sldMk cId="3744217247" sldId="281"/>
            <ac:spMk id="33" creationId="{6D0F4567-D057-4BE7-32A7-334EC2164A2C}"/>
          </ac:spMkLst>
        </pc:spChg>
        <pc:spChg chg="add mod">
          <ac:chgData name="purna chand" userId="6e54419aa65d471c" providerId="LiveId" clId="{2483B58E-5644-4E75-AA46-D334125ADD6E}" dt="2026-09-22T09:13:12.785" v="119" actId="1076"/>
          <ac:spMkLst>
            <pc:docMk/>
            <pc:sldMk cId="3744217247" sldId="281"/>
            <ac:spMk id="35" creationId="{53C43C12-4B70-F721-9E0A-DD8370D3BABC}"/>
          </ac:spMkLst>
        </pc:spChg>
        <pc:spChg chg="add mod">
          <ac:chgData name="purna chand" userId="6e54419aa65d471c" providerId="LiveId" clId="{2483B58E-5644-4E75-AA46-D334125ADD6E}" dt="2026-09-22T09:13:22.745" v="121" actId="1076"/>
          <ac:spMkLst>
            <pc:docMk/>
            <pc:sldMk cId="3744217247" sldId="281"/>
            <ac:spMk id="37" creationId="{D2A13C47-9211-7F6A-3235-E7CA857CC45D}"/>
          </ac:spMkLst>
        </pc:spChg>
        <pc:spChg chg="add mod">
          <ac:chgData name="purna chand" userId="6e54419aa65d471c" providerId="LiveId" clId="{2483B58E-5644-4E75-AA46-D334125ADD6E}" dt="2026-09-22T09:13:51.692" v="129" actId="1076"/>
          <ac:spMkLst>
            <pc:docMk/>
            <pc:sldMk cId="3744217247" sldId="281"/>
            <ac:spMk id="39" creationId="{A378BCE5-A3E9-0942-2521-8A05596F86BE}"/>
          </ac:spMkLst>
        </pc:spChg>
        <pc:grpChg chg="add mod">
          <ac:chgData name="purna chand" userId="6e54419aa65d471c" providerId="LiveId" clId="{2483B58E-5644-4E75-AA46-D334125ADD6E}" dt="2026-09-22T09:10:40.518" v="85"/>
          <ac:grpSpMkLst>
            <pc:docMk/>
            <pc:sldMk cId="3744217247" sldId="281"/>
            <ac:grpSpMk id="4" creationId="{F02D1B8B-963F-84C5-69F0-17C3EECCFD8D}"/>
          </ac:grpSpMkLst>
        </pc:grp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10" creationId="{BD448D2F-A85D-4EA9-4AFA-DBD143FFC367}"/>
          </ac:picMkLst>
        </pc:picChg>
        <pc:picChg chg="del">
          <ac:chgData name="purna chand" userId="6e54419aa65d471c" providerId="LiveId" clId="{2483B58E-5644-4E75-AA46-D334125ADD6E}" dt="2026-09-22T09:10:20.918" v="83" actId="478"/>
          <ac:picMkLst>
            <pc:docMk/>
            <pc:sldMk cId="3744217247" sldId="281"/>
            <ac:picMk id="11" creationId="{A6C365DC-19B7-1764-968A-F9C87D5E4951}"/>
          </ac:picMkLst>
        </pc:pic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21" creationId="{70B9531E-FF63-3CBC-8C76-5101CEB24CF2}"/>
          </ac:picMkLst>
        </pc:picChg>
        <pc:picChg chg="mod">
          <ac:chgData name="purna chand" userId="6e54419aa65d471c" providerId="LiveId" clId="{2483B58E-5644-4E75-AA46-D334125ADD6E}" dt="2026-09-22T09:10:40.518" v="85"/>
          <ac:picMkLst>
            <pc:docMk/>
            <pc:sldMk cId="3744217247" sldId="281"/>
            <ac:picMk id="22" creationId="{A51A82D2-D894-569F-6C1F-514FA4F129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FILE DATA ANALYZER SYSTEM</a:t>
            </a:r>
          </a:p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CSV Data Analysis using NumPy, Pandas &amp; Matplotlib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K. Bala Aditya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25B11AI581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M. Mohith Naik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25B11AI765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G. Dileep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25B11AI361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M. Sujana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25B11AI768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P. Vaishanth(25B11AI893)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399" y="6520785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05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Abstract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System &amp; Limitations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System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Workflow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and Discussions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the List of largest companies in India dataset using Python with NumPy, Pandas and Matplotlib in Google Colab. The CSV file of 50 companies is loaded into a DataFrame, inspected and cleaned by removing the extra index column, checking missing values and duplicates, and converting Profit to numeric. Statistics, top-10 rankings, industry and headquarters analysis, profit margin and correlation are then computed, and the results are shown with bar charts, scatter plots and histograms. The cleaned dataset is saved as a new CSV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571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Large companies publish financial data such as revenue, profit, assets and value.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raw CSV form this data is hard to read and compare.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analyzes the List of largest companies in India dataset.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built in Python using NumPy, Pandas and Matplotlib in Google Colab.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Cleaning, statistics, grouping, filtering and charts are done step by step.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results show top companies, industry trends and links between financial measures.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850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Company data is usually viewed in spreadsheets or on websites.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Totals, averages and rankings are calculated with manual formulas.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Sorting and filtering are repeated for every new question.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Charts are drawn separately in spreadsheet tools.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Cleaning steps, such as fixing numbers stored as text, are done by hand.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Comparing industries and headquarters needs extra pivot tables.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743200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325880"/>
            <a:ext cx="87782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analysis is time-consuming for every new question.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Numbers stored as text (like Profit) give wrong calculations.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Formula and copy-paste errors reduce accuracy.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Extra index columns and duplicate rows can go unnoticed.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Statistics, rankings, grouping and charts are spread over different tools.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are not easily repeatable on a new file.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and profit margin need additional manual work.</a:t>
            </a: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234440"/>
            <a:ext cx="8503920" cy="4167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CSV loading into a Pandas DataFrame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inspection using head, tail, info and shape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cleaning: index column, missing values, duplicates, Profit to numeric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Statistics using describe(), NumPy mean and median, maximum and minimum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10 rankings by revenue, profit, assets, value and profit margin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Industry and headquarters analysis using groupby() and value_counts()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 bar charts, scatter plots and histograms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analysis, filtering and cleaned CSV export</a:t>
            </a: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1430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233464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List of largest companies in India.csv used for analysis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50000"/>
          <a:ext cx="9144000" cy="2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No.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Data Type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Rank, Forbes 2000 rank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Position in the list and in the Forbes 2000 ranking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Name of the company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Headquarters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City where the company is headquartered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Industry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Business sector of the company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Revenue(billions US$)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Annual revenue in billion US$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Profit(billions US$)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Text → Numeric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Profit in billion US$ (converted with to_numeric)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Assets(billions US$)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Total assets in billion US$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Value(billions US$)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Times New Roman"/>
                        </a:rPr>
                        <a:t>Company value in billion US$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4750000"/>
            <a:ext cx="2950000" cy="2600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33464"/>
                </a:solidFill>
                <a:latin typeface="Times New Roman"/>
              </a:rPr>
              <a:t>Data Cleaning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Drop Unnamed: 0 index column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Check missing values (isnull)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Check duplicates (duplicated)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Profit converted to numeric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Add Profit Margin (%) column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53200" y="4750000"/>
            <a:ext cx="2950000" cy="2600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33464"/>
                </a:solidFill>
                <a:latin typeface="Times New Roman"/>
              </a:rPr>
              <a:t>Dataset Summary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50 records (companies)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10 columns in the raw file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5 numeric measures + ranks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Revenue, profit, assets, value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Industry and headquarters labels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9200" y="4750000"/>
            <a:ext cx="2950000" cy="2600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33464"/>
                </a:solidFill>
                <a:latin typeface="Times New Roman"/>
              </a:rPr>
              <a:t>Tools &amp; Libraries Used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Python 3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NumPy – mean, median, corrcoef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Pandas – load, clean, group, sort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Matplotlib – charts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D2D2D"/>
                </a:solidFill>
                <a:latin typeface="Times New Roman"/>
              </a:rPr>
              <a:t>• Google Colab notebook</a:t>
            </a:r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23444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737360"/>
            <a:ext cx="384048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Processor: Intel i3 or above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Minimum 4 GB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Storage: 20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676972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207" y="4319577"/>
            <a:ext cx="4023360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Windows with a web browser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Colab / Jupyter Notebook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NumPy, Pandas and Matplotlib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92916"/>
            <a:ext cx="620955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CSV Dataset (List of largest companies in India.csv)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Load Data (Pandas read_csv)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Inspect &amp; Clean Data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Statistical Analysis (NumPy &amp; Pandas)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Group, Sort &amp; Filter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Visualization (Matplotlib)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Save Cleaned Dataset (to_csv)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00" y="1115220"/>
            <a:ext cx="840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Module 1 – Data Loading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Upload the CSV file in Google Colab.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Read it into a Pandas DataFrame using read_csv().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2502A97-D245-72B2-C4CE-36C3CF74332D}"/>
              </a:ext>
            </a:extLst>
          </p:cNvPr>
          <p:cNvSpPr/>
          <p:nvPr/>
        </p:nvSpPr>
        <p:spPr>
          <a:xfrm>
            <a:off x="4796282" y="2373939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4B842-9CD3-AA46-6CA7-F730C9D1D96E}"/>
              </a:ext>
            </a:extLst>
          </p:cNvPr>
          <p:cNvSpPr txBox="1"/>
          <p:nvPr/>
        </p:nvSpPr>
        <p:spPr>
          <a:xfrm>
            <a:off x="829200" y="2609096"/>
            <a:ext cx="84000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Inspection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the data with head(), tail(), info() and shape.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column names and data types.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18714A5-46F1-BD0D-4A00-BB0C1211F660}"/>
              </a:ext>
            </a:extLst>
          </p:cNvPr>
          <p:cNvSpPr/>
          <p:nvPr/>
        </p:nvSpPr>
        <p:spPr>
          <a:xfrm>
            <a:off x="4756604" y="381464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59C03E-C4CB-43D3-0C7D-3D50822A8B32}"/>
              </a:ext>
            </a:extLst>
          </p:cNvPr>
          <p:cNvSpPr txBox="1"/>
          <p:nvPr/>
        </p:nvSpPr>
        <p:spPr>
          <a:xfrm>
            <a:off x="829200" y="4228115"/>
            <a:ext cx="8400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Data Cleaning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the extra Unnamed: 0 index column.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nulls and duplicates; convert Profit to numeric.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02D8121-E16D-A49A-1052-85D8AFE05F58}"/>
              </a:ext>
            </a:extLst>
          </p:cNvPr>
          <p:cNvSpPr/>
          <p:nvPr/>
        </p:nvSpPr>
        <p:spPr>
          <a:xfrm>
            <a:off x="4754386" y="5469412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C953-BED3-2F43-1A1F-3B7650BC3A88}"/>
              </a:ext>
            </a:extLst>
          </p:cNvPr>
          <p:cNvSpPr txBox="1"/>
          <p:nvPr/>
        </p:nvSpPr>
        <p:spPr>
          <a:xfrm>
            <a:off x="829200" y="5841915"/>
            <a:ext cx="84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Statistical Analysis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describe(), np.mean() and np.median().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maximum and minimum of each measure.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F02D1B8B-963F-84C5-69F0-17C3EECCFD8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D448D2F-A85D-4EA9-4AFA-DBD143FFC3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1" name="object 5">
              <a:extLst>
                <a:ext uri="{FF2B5EF4-FFF2-40B4-BE49-F238E27FC236}">
                  <a16:creationId xmlns:a16="http://schemas.microsoft.com/office/drawing/2014/main" id="{70B9531E-FF63-3CBC-8C76-5101CEB24CF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2" name="object 6">
              <a:extLst>
                <a:ext uri="{FF2B5EF4-FFF2-40B4-BE49-F238E27FC236}">
                  <a16:creationId xmlns:a16="http://schemas.microsoft.com/office/drawing/2014/main" id="{A51A82D2-D894-569F-6C1F-514FA4F129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3" name="object 7">
              <a:extLst>
                <a:ext uri="{FF2B5EF4-FFF2-40B4-BE49-F238E27FC236}">
                  <a16:creationId xmlns:a16="http://schemas.microsoft.com/office/drawing/2014/main" id="{B3782B54-B821-DE87-C2B7-79ECF9E77AF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5CA9835-2A27-E3B2-E349-E0FE4429CFBE}"/>
              </a:ext>
            </a:extLst>
          </p:cNvPr>
          <p:cNvSpPr txBox="1"/>
          <p:nvPr/>
        </p:nvSpPr>
        <p:spPr>
          <a:xfrm>
            <a:off x="2586213" y="41329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9BA950-6049-F76A-4A0C-CF5ED87D2763}"/>
              </a:ext>
            </a:extLst>
          </p:cNvPr>
          <p:cNvSpPr txBox="1"/>
          <p:nvPr/>
        </p:nvSpPr>
        <p:spPr>
          <a:xfrm>
            <a:off x="829200" y="953427"/>
            <a:ext cx="84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Ranking &amp; Grouping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companies by revenue, profit, assets and value.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groupby() and value_counts() for industry and headquarters.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3B0312D2-1C2D-0FC3-47A4-8970E0D691E7}"/>
              </a:ext>
            </a:extLst>
          </p:cNvPr>
          <p:cNvSpPr/>
          <p:nvPr/>
        </p:nvSpPr>
        <p:spPr>
          <a:xfrm>
            <a:off x="4850336" y="2242125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49019-54D3-0F1F-3651-5D4892AE3078}"/>
              </a:ext>
            </a:extLst>
          </p:cNvPr>
          <p:cNvSpPr txBox="1"/>
          <p:nvPr/>
        </p:nvSpPr>
        <p:spPr>
          <a:xfrm>
            <a:off x="829200" y="2612335"/>
            <a:ext cx="84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Visualization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bar charts, scatter plots and histograms.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Matplotlib (pyplot) for all charts.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D0F4567-D057-4BE7-32A7-334EC2164A2C}"/>
              </a:ext>
            </a:extLst>
          </p:cNvPr>
          <p:cNvSpPr/>
          <p:nvPr/>
        </p:nvSpPr>
        <p:spPr>
          <a:xfrm>
            <a:off x="4850336" y="3959586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C43C12-4B70-F721-9E0A-DD8370D3BABC}"/>
              </a:ext>
            </a:extLst>
          </p:cNvPr>
          <p:cNvSpPr txBox="1"/>
          <p:nvPr/>
        </p:nvSpPr>
        <p:spPr>
          <a:xfrm>
            <a:off x="829200" y="4271243"/>
            <a:ext cx="84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Profit Margin &amp; Correlation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(%) = Profit / Revenue × 100.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corr() and np.corrcoef() for relationships.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D2A13C47-9211-7F6A-3235-E7CA857CC45D}"/>
              </a:ext>
            </a:extLst>
          </p:cNvPr>
          <p:cNvSpPr/>
          <p:nvPr/>
        </p:nvSpPr>
        <p:spPr>
          <a:xfrm>
            <a:off x="4850336" y="557615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8BCE5-A3E9-0942-2521-8A05596F86BE}"/>
              </a:ext>
            </a:extLst>
          </p:cNvPr>
          <p:cNvSpPr txBox="1"/>
          <p:nvPr/>
        </p:nvSpPr>
        <p:spPr>
          <a:xfrm>
            <a:off x="829200" y="5946716"/>
            <a:ext cx="84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Filtering &amp; Export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companies: revenue &gt; 50 and profit &gt; 5 billion US$.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cleaned data with to_csv() and download it.</a:t>
            </a:r>
          </a:p>
        </p:txBody>
      </p:sp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9143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D2D2D"/>
                </a:solidFill>
                <a:latin typeface="Times New Roman"/>
              </a:rPr>
              <a:t>• The final summary (Cell 43) reports the highest revenue, profit, assets and value companies.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D2D2D"/>
                </a:solidFill>
                <a:latin typeface="Times New Roman"/>
              </a:rPr>
              <a:t>• It also gives the most common industry and the most common headquarters.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350000"/>
            <a:ext cx="9143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33464"/>
                </a:solidFill>
                <a:latin typeface="Times New Roman"/>
              </a:rPr>
              <a:t>Analysis outputs of the notebook (Cells 15 – 43)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1900000"/>
          <a:ext cx="91440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Analysis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Cells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Output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Statistical summary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15 – 19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describe(), mean, median, maximum and minimum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Top 10 rankings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20 – 23, 37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By revenue, profit, assets, value and profit margin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Industry analysis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24 – 26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Company count, average revenue and profit per industry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Headquarters analysis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27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Number of companies in each headquarters city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Correlation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39 – 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Correlation matrix and revenue–profit correlation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Filtering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41 – 42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Companies with revenue &gt; 50 and profit &gt; 5 billion US$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1350000"/>
            <a:ext cx="9143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33464"/>
                </a:solidFill>
                <a:latin typeface="Times New Roman"/>
              </a:rPr>
              <a:t>Visualizations produced with Matplotlib (Cells 28 – 38)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1900000"/>
          <a:ext cx="9144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Chart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shows</a:t>
                      </a:r>
                    </a:p>
                  </a:txBody>
                  <a:tcPr marT="20000" marB="20000" anchor="ctr">
                    <a:solidFill>
                      <a:srgbClr val="233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Top 10 by Revenue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Bar chart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Largest companies by revenue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Top 10 by Profit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Bar chart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Most profitable companies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Companies by Industry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Bar chart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Number of companies in each industry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Average Revenue by Industry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Bar chart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Industries with the highest average revenue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Revenue vs Profit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Scatter plot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Relationship between revenue and profit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Assets vs Company Value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Scatter plot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Relationship between assets and value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Distribution of Revenue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Histogram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Spread of revenue over 10 bins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Distribution of Profit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Histogram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Spread of profit over 10 bins</a:t>
                      </a:r>
                    </a:p>
                  </a:txBody>
                  <a:tcPr marT="20000" marB="20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2D2D"/>
                          </a:solidFill>
                          <a:latin typeface="Times New Roman"/>
                        </a:rPr>
                        <a:t>Top 10 by Profit Margin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Bar chart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Times New Roman"/>
                        </a:rPr>
                        <a:t>Companies with the best Profit / Revenue ratio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5120640"/>
            <a:ext cx="9143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33464"/>
                </a:solidFill>
                <a:latin typeface="Times New Roman"/>
              </a:rPr>
              <a:t>Key observations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9143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D2D2D"/>
                </a:solidFill>
                <a:latin typeface="Times New Roman"/>
              </a:rPr>
              <a:t>• Bar charts compare the top companies and industries at a glance.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D2D2D"/>
                </a:solidFill>
                <a:latin typeface="Times New Roman"/>
              </a:rPr>
              <a:t>• Scatter plots reveal how profit depends on revenue and value on assets.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D2D2D"/>
                </a:solidFill>
                <a:latin typeface="Times New Roman"/>
              </a:rPr>
              <a:t>• Histograms show how revenue and profit are spread across the companies.</a:t>
            </a:r>
          </a:p>
        </p:txBody>
      </p:sp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463040"/>
            <a:ext cx="8412480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provides a complete pipeline to load, clean and analyze company data using NumPy, Pandas and Matplotlib.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Statistics, rankings, grouping and filtering give quick insights into 50 of India's largest companies.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Industry and headquarters analysis, profit margin and correlation reveal how financial measures relate.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Charts make the results easy to understand, and the cleaned CSV can be reused.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251" y="6126486"/>
            <a:ext cx="813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Future scope: interactive dashboards, data from multiple years, more financial ratios and predictive models.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3213</TotalTime>
  <Words>1454</Words>
  <Application>Microsoft Office PowerPoint</Application>
  <PresentationFormat>Custom</PresentationFormat>
  <Paragraphs>234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Kosanam Bala Aditya</cp:lastModifiedBy>
  <cp:revision>113</cp:revision>
  <cp:lastPrinted>2025-10-14T18:21:49Z</cp:lastPrinted>
  <dcterms:created xsi:type="dcterms:W3CDTF">2025-10-10T08:28:06Z</dcterms:created>
  <dcterms:modified xsi:type="dcterms:W3CDTF">2026-10-01T09:52:03Z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